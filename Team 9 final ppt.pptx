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86" r:id="rId2"/>
    <p:sldId id="257" r:id="rId3"/>
    <p:sldId id="287" r:id="rId4"/>
    <p:sldId id="260" r:id="rId5"/>
    <p:sldId id="261" r:id="rId6"/>
    <p:sldId id="288" r:id="rId7"/>
    <p:sldId id="263" r:id="rId8"/>
    <p:sldId id="285" r:id="rId9"/>
    <p:sldId id="289" r:id="rId10"/>
    <p:sldId id="264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84" r:id="rId19"/>
    <p:sldId id="276" r:id="rId20"/>
    <p:sldId id="278" r:id="rId21"/>
    <p:sldId id="281" r:id="rId22"/>
    <p:sldId id="282" r:id="rId23"/>
    <p:sldId id="283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105" d="100"/>
          <a:sy n="105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768C1D9-FF13-2937-270F-C752869EB8CD}"/>
              </a:ext>
            </a:extLst>
          </p:cNvPr>
          <p:cNvSpPr/>
          <p:nvPr/>
        </p:nvSpPr>
        <p:spPr>
          <a:xfrm>
            <a:off x="5976439" y="2273935"/>
            <a:ext cx="3094990" cy="109982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r>
              <a:rPr lang="en-US" sz="1400" dirty="0"/>
              <a:t>Team Members:</a:t>
            </a:r>
          </a:p>
          <a:p>
            <a:r>
              <a:rPr lang="en-US" sz="1400" dirty="0" err="1"/>
              <a:t>C.Guruteja</a:t>
            </a:r>
            <a:r>
              <a:rPr lang="en-US" sz="1400" dirty="0"/>
              <a:t>       - 22191A0507</a:t>
            </a:r>
          </a:p>
          <a:p>
            <a:r>
              <a:rPr lang="en-US" sz="1400" dirty="0" err="1"/>
              <a:t>B.Sravanthi</a:t>
            </a:r>
            <a:r>
              <a:rPr lang="en-US" sz="1400" dirty="0"/>
              <a:t>      - 22191A0536</a:t>
            </a:r>
          </a:p>
          <a:p>
            <a:r>
              <a:rPr lang="en-US" sz="1400" dirty="0" err="1"/>
              <a:t>K.Nani</a:t>
            </a:r>
            <a:r>
              <a:rPr lang="en-US" sz="1400" dirty="0"/>
              <a:t>              - 22191A0558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814AC31-899D-2863-5A56-57D3926AAFC2}"/>
              </a:ext>
            </a:extLst>
          </p:cNvPr>
          <p:cNvSpPr/>
          <p:nvPr/>
        </p:nvSpPr>
        <p:spPr>
          <a:xfrm rot="16200000">
            <a:off x="3816350" y="-3800475"/>
            <a:ext cx="1527810" cy="9128125"/>
          </a:xfrm>
          <a:prstGeom prst="rect">
            <a:avLst/>
          </a:prstGeom>
          <a:solidFill>
            <a:srgbClr val="0D6EFD">
              <a:alpha val="20000"/>
            </a:srgbClr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A3AE63B-8226-0B13-E7AE-939459408D31}"/>
              </a:ext>
            </a:extLst>
          </p:cNvPr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CF9B128-C780-54E8-0045-F89F3D5E44D4}"/>
              </a:ext>
            </a:extLst>
          </p:cNvPr>
          <p:cNvSpPr/>
          <p:nvPr/>
        </p:nvSpPr>
        <p:spPr>
          <a:xfrm>
            <a:off x="457200" y="457200"/>
            <a:ext cx="914400" cy="914400"/>
          </a:xfrm>
          <a:prstGeom prst="ellipse">
            <a:avLst/>
          </a:prstGeom>
          <a:solidFill>
            <a:srgbClr val="0D6EFD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9B726E4-4C0D-96CA-5AC6-5E2F9A04B7AD}"/>
              </a:ext>
            </a:extLst>
          </p:cNvPr>
          <p:cNvSpPr/>
          <p:nvPr/>
        </p:nvSpPr>
        <p:spPr>
          <a:xfrm>
            <a:off x="502920" y="530352"/>
            <a:ext cx="822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3A28F5-80BE-678F-1F0D-F9D4F7E448AD}"/>
              </a:ext>
            </a:extLst>
          </p:cNvPr>
          <p:cNvSpPr/>
          <p:nvPr/>
        </p:nvSpPr>
        <p:spPr>
          <a:xfrm>
            <a:off x="228600" y="1978025"/>
            <a:ext cx="8229600" cy="1019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AI-Powered Web &amp; File Security Shield</a:t>
            </a:r>
            <a:endParaRPr lang="en-US" sz="4400" dirty="0"/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52FB90E-616E-50BE-28E5-FF75A3B78AFA}"/>
              </a:ext>
            </a:extLst>
          </p:cNvPr>
          <p:cNvSpPr/>
          <p:nvPr/>
        </p:nvSpPr>
        <p:spPr>
          <a:xfrm>
            <a:off x="228600" y="3007995"/>
            <a:ext cx="47923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Zero-Day Threat Detection • Real-Time ML Analysis • Chrome Extension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33FC31E-3E52-DEDB-711E-C64B711021B5}"/>
              </a:ext>
            </a:extLst>
          </p:cNvPr>
          <p:cNvSpPr/>
          <p:nvPr/>
        </p:nvSpPr>
        <p:spPr>
          <a:xfrm>
            <a:off x="0" y="4617720"/>
            <a:ext cx="9144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 • Intelligent • Relentless</a:t>
            </a:r>
            <a:endParaRPr lang="en-US" sz="1300" dirty="0"/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0E43293B-53CE-4710-53EB-F0A613FC4A74}"/>
              </a:ext>
            </a:extLst>
          </p:cNvPr>
          <p:cNvSpPr txBox="1"/>
          <p:nvPr/>
        </p:nvSpPr>
        <p:spPr>
          <a:xfrm>
            <a:off x="0" y="3602990"/>
            <a:ext cx="49707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Under the Guidance of:</a:t>
            </a:r>
          </a:p>
          <a:p>
            <a:r>
              <a:rPr lang="en-US" sz="1400" dirty="0" err="1"/>
              <a:t>Dr.K.Balachandra</a:t>
            </a:r>
            <a:r>
              <a:rPr lang="en-US" sz="1400" dirty="0"/>
              <a:t> Reddy </a:t>
            </a:r>
            <a:r>
              <a:rPr lang="en-US" sz="1200" baseline="-25000" dirty="0" err="1"/>
              <a:t>M.Tech,Ph.D</a:t>
            </a:r>
            <a:r>
              <a:rPr lang="en-US" sz="1200" baseline="-25000" dirty="0"/>
              <a:t>.</a:t>
            </a:r>
          </a:p>
          <a:p>
            <a:r>
              <a:rPr lang="en-US" sz="1400" dirty="0"/>
              <a:t>Assistant Professor </a:t>
            </a:r>
          </a:p>
          <a:p>
            <a:r>
              <a:rPr lang="en-US" sz="1400" dirty="0"/>
              <a:t>Department of CSE, JNTUACEP.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C71690-AF41-09EF-1FD4-3268C39E978E}"/>
              </a:ext>
            </a:extLst>
          </p:cNvPr>
          <p:cNvSpPr txBox="1"/>
          <p:nvPr/>
        </p:nvSpPr>
        <p:spPr>
          <a:xfrm>
            <a:off x="5983696" y="3669665"/>
            <a:ext cx="2884532" cy="1097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Head of the department :</a:t>
            </a:r>
          </a:p>
          <a:p>
            <a:r>
              <a:rPr lang="en-US" sz="1400" dirty="0"/>
              <a:t>Dr. S. Jessica Saritha </a:t>
            </a:r>
            <a:r>
              <a:rPr lang="en-US" sz="1400" baseline="-25000" dirty="0" err="1"/>
              <a:t>M.Tech,Ph.D</a:t>
            </a:r>
            <a:r>
              <a:rPr lang="en-US" sz="1400" baseline="-25000" dirty="0"/>
              <a:t>.</a:t>
            </a:r>
          </a:p>
          <a:p>
            <a:r>
              <a:rPr lang="en-US" sz="1400" dirty="0"/>
              <a:t>Associate Professor</a:t>
            </a:r>
          </a:p>
          <a:p>
            <a:r>
              <a:rPr lang="en-US" sz="1400" dirty="0"/>
              <a:t>Department of CSE, JNTUACEP</a:t>
            </a:r>
          </a:p>
          <a:p>
            <a:endParaRPr lang="en-US" sz="1400" baseline="-25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75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61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Traditional Security Fails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32004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Blacklist-Based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246888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AV relies on known threat signatures. New phishing domains go live every minute — blacklists are always one step behind.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43200" cy="32004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916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Zero-Day Vulnerabilities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246888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Newly crafted phishing URLs evade detection entirely. Users remain exposed for hours or days before databases are updated.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743200" cy="32004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002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📉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Reactive, Not Proactive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246888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 tools only react after a threat is identified. By then, credentials are stolen and damage is done.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A18"/>
          </a:solidFill>
          <a:ln w="12700">
            <a:solidFill>
              <a:srgbClr val="060A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PhishShield addresses all three failure points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73D7AAD-1221-111B-17BF-1D96BEF558C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2C780E4-7511-D92B-65BC-A7C47EEF4AB6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F33BAD0-4979-B6B1-2760-29CD6A9FA91F}"/>
              </a:ext>
            </a:extLst>
          </p:cNvPr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PhishShield: Proactive ML-Powered Defense</a:t>
            </a:r>
            <a:endParaRPr lang="en-US" sz="2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B3BC77-DCC7-1B06-5132-DE255AA434C6}"/>
              </a:ext>
            </a:extLst>
          </p:cNvPr>
          <p:cNvSpPr/>
          <p:nvPr/>
        </p:nvSpPr>
        <p:spPr>
          <a:xfrm>
            <a:off x="365760" y="1600200"/>
            <a:ext cx="38404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Chrome Extension that runs silently in the background, analyzing every URL and file download in real-time using a trained XGBoost machine learning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CBD5E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waiting for database updates
90.5% detection accuracy
Fully logged to admin dashboard
</a:t>
            </a:r>
            <a:endParaRPr lang="en-US" sz="13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6A2ED26-4CC5-A0D8-83FC-3F78F9C465F1}"/>
              </a:ext>
            </a:extLst>
          </p:cNvPr>
          <p:cNvSpPr/>
          <p:nvPr/>
        </p:nvSpPr>
        <p:spPr>
          <a:xfrm>
            <a:off x="4572000" y="1600200"/>
            <a:ext cx="42062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74728A0-0390-FA55-6E6F-47CE4B6C7F42}"/>
              </a:ext>
            </a:extLst>
          </p:cNvPr>
          <p:cNvSpPr/>
          <p:nvPr/>
        </p:nvSpPr>
        <p:spPr>
          <a:xfrm>
            <a:off x="4663440" y="1645920"/>
            <a:ext cx="3200400" cy="38404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 Extension</a:t>
            </a:r>
            <a:endParaRPr lang="en-US" sz="15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B8BD580-F975-95C5-3BB6-0526665147F7}"/>
              </a:ext>
            </a:extLst>
          </p:cNvPr>
          <p:cNvSpPr/>
          <p:nvPr/>
        </p:nvSpPr>
        <p:spPr>
          <a:xfrm>
            <a:off x="4663440" y="1984248"/>
            <a:ext cx="320040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Interface</a:t>
            </a:r>
            <a:endParaRPr lang="en-US" sz="11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13D1286-4712-806A-DEE7-39F0D35E7332}"/>
              </a:ext>
            </a:extLst>
          </p:cNvPr>
          <p:cNvSpPr/>
          <p:nvPr/>
        </p:nvSpPr>
        <p:spPr>
          <a:xfrm>
            <a:off x="6492240" y="2331720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9F8A896-534C-18DB-222C-13C3BD2A84DA}"/>
              </a:ext>
            </a:extLst>
          </p:cNvPr>
          <p:cNvSpPr/>
          <p:nvPr/>
        </p:nvSpPr>
        <p:spPr>
          <a:xfrm>
            <a:off x="4572000" y="2606040"/>
            <a:ext cx="4206240" cy="73152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185C463-5019-E34A-78DF-B88B8B712577}"/>
              </a:ext>
            </a:extLst>
          </p:cNvPr>
          <p:cNvSpPr/>
          <p:nvPr/>
        </p:nvSpPr>
        <p:spPr>
          <a:xfrm>
            <a:off x="4663440" y="2651760"/>
            <a:ext cx="3200400" cy="38404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E745AFF-B069-A321-9985-5DEF97B5B5C6}"/>
              </a:ext>
            </a:extLst>
          </p:cNvPr>
          <p:cNvSpPr/>
          <p:nvPr/>
        </p:nvSpPr>
        <p:spPr>
          <a:xfrm>
            <a:off x="4663440" y="2990088"/>
            <a:ext cx="320040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Brain</a:t>
            </a:r>
            <a:endParaRPr lang="en-US" sz="11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9E5090F-FC8E-F353-8195-BE39E3F39E0C}"/>
              </a:ext>
            </a:extLst>
          </p:cNvPr>
          <p:cNvSpPr/>
          <p:nvPr/>
        </p:nvSpPr>
        <p:spPr>
          <a:xfrm>
            <a:off x="6492240" y="3337560"/>
            <a:ext cx="7315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D61BF135-751A-CC4F-7DED-C9D70DF5CE9D}"/>
              </a:ext>
            </a:extLst>
          </p:cNvPr>
          <p:cNvSpPr/>
          <p:nvPr/>
        </p:nvSpPr>
        <p:spPr>
          <a:xfrm>
            <a:off x="4572000" y="3611880"/>
            <a:ext cx="42062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F733633-7DEB-D081-C049-22501B977410}"/>
              </a:ext>
            </a:extLst>
          </p:cNvPr>
          <p:cNvSpPr/>
          <p:nvPr/>
        </p:nvSpPr>
        <p:spPr>
          <a:xfrm>
            <a:off x="4663440" y="3657600"/>
            <a:ext cx="3200400" cy="38404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Dashboard</a:t>
            </a:r>
            <a:endParaRPr lang="en-US" sz="15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3B356F3-30C5-54E8-FF9E-378FF60071B9}"/>
              </a:ext>
            </a:extLst>
          </p:cNvPr>
          <p:cNvSpPr/>
          <p:nvPr/>
        </p:nvSpPr>
        <p:spPr>
          <a:xfrm>
            <a:off x="4663440" y="3995928"/>
            <a:ext cx="320040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Center</a:t>
            </a:r>
            <a:endParaRPr lang="en-US" sz="11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F2DBE02-FC5F-F9F4-699A-DC8878AA5463}"/>
              </a:ext>
            </a:extLst>
          </p:cNvPr>
          <p:cNvSpPr/>
          <p:nvPr/>
        </p:nvSpPr>
        <p:spPr>
          <a:xfrm>
            <a:off x="4572000" y="4407408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3-TIER ARCHITECTURE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48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Model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286000" cy="1828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286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286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90.5%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520440"/>
            <a:ext cx="228600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520440"/>
            <a:ext cx="228600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657600"/>
            <a:ext cx="2286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D6E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74320" y="438912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Features Extracted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600200"/>
            <a:ext cx="2926080" cy="333756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1600200"/>
            <a:ext cx="29260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691640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URL-Based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240280"/>
            <a:ext cx="274320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Letter-to-Digit Ratio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Abnormal URL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Redirect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character density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600200"/>
            <a:ext cx="2926080" cy="333756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600200"/>
            <a:ext cx="29260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91640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Webpage/HTML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74320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JS/CSS file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Iframe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Popup presence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button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Copyright info presence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vs External links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600200"/>
            <a:ext cx="2286000" cy="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206240" cy="15544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73152" cy="1554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7335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⬇️  Download Initiated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931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uploads a file.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206240" cy="15544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00200"/>
            <a:ext cx="73152" cy="1554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7335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📤  Payload Sent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423160"/>
            <a:ext cx="3931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content or metadata/hash is securely transmitted to the FastAPI backend for deep analysis.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4206240" cy="15544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83280"/>
            <a:ext cx="73152" cy="1554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564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 SHA-256 Hashing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3931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generates a SHA-256 hash and cross-references against known malicious signatures and patterns.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383280"/>
            <a:ext cx="4206240" cy="15544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38328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4564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 Verdict &amp; 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206240"/>
            <a:ext cx="39319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score &gt;90%:shows alert and threat logged. Safe files proceed normally. Admin dashboard updated instantly.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73625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337FFFC-CCF4-40EB-7693-E5770C1239A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74F150B-000F-39A5-C4EA-65A8CE891938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FAC0E6B-FBD6-D038-51C6-934F2B8EC128}"/>
              </a:ext>
            </a:extLst>
          </p:cNvPr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98BD324-D914-5CCA-B0CC-EBF7EFB65970}"/>
              </a:ext>
            </a:extLst>
          </p:cNvPr>
          <p:cNvSpPr/>
          <p:nvPr/>
        </p:nvSpPr>
        <p:spPr>
          <a:xfrm>
            <a:off x="228600" y="1600200"/>
            <a:ext cx="1965960" cy="237744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470D129-BFDF-B910-9C7F-5AB47761515B}"/>
              </a:ext>
            </a:extLst>
          </p:cNvPr>
          <p:cNvSpPr/>
          <p:nvPr/>
        </p:nvSpPr>
        <p:spPr>
          <a:xfrm>
            <a:off x="228600" y="160020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C883F39-EAEA-5ECF-3BA6-801CC7522A29}"/>
              </a:ext>
            </a:extLst>
          </p:cNvPr>
          <p:cNvSpPr/>
          <p:nvPr/>
        </p:nvSpPr>
        <p:spPr>
          <a:xfrm>
            <a:off x="320040" y="1709928"/>
            <a:ext cx="1783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0DF3C1B-D460-C319-4170-9D18B202AE30}"/>
              </a:ext>
            </a:extLst>
          </p:cNvPr>
          <p:cNvSpPr/>
          <p:nvPr/>
        </p:nvSpPr>
        <p:spPr>
          <a:xfrm>
            <a:off x="338328" y="2423160"/>
            <a:ext cx="1746504" cy="1490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/ CSS3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 APIs</a:t>
            </a:r>
            <a:endParaRPr lang="en-US" sz="1100" dirty="0"/>
          </a:p>
          <a:p>
            <a:pPr>
              <a:buSzPct val="100000"/>
            </a:pPr>
            <a:endParaRPr lang="en-US" sz="11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A38B32D-9653-0086-2AC0-82F35BB63DEF}"/>
              </a:ext>
            </a:extLst>
          </p:cNvPr>
          <p:cNvSpPr/>
          <p:nvPr/>
        </p:nvSpPr>
        <p:spPr>
          <a:xfrm>
            <a:off x="2377440" y="1600200"/>
            <a:ext cx="1965960" cy="237744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133C5A7-6BB3-61C6-77FF-FA8CB1FCE43D}"/>
              </a:ext>
            </a:extLst>
          </p:cNvPr>
          <p:cNvSpPr/>
          <p:nvPr/>
        </p:nvSpPr>
        <p:spPr>
          <a:xfrm>
            <a:off x="2377440" y="1600200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7BD3B34-DCD9-F85D-0579-C3C6EE06F883}"/>
              </a:ext>
            </a:extLst>
          </p:cNvPr>
          <p:cNvSpPr/>
          <p:nvPr/>
        </p:nvSpPr>
        <p:spPr>
          <a:xfrm>
            <a:off x="2468880" y="1709928"/>
            <a:ext cx="1783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5E5AFEF-71B2-4897-0DE4-0AB0D97F419F}"/>
              </a:ext>
            </a:extLst>
          </p:cNvPr>
          <p:cNvSpPr/>
          <p:nvPr/>
        </p:nvSpPr>
        <p:spPr>
          <a:xfrm>
            <a:off x="2487168" y="2423160"/>
            <a:ext cx="1746504" cy="1490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TypeScript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client</a:t>
            </a:r>
            <a:endParaRPr lang="en-US" sz="11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780E52B9-DF9F-B111-F10B-4E4BF779992E}"/>
              </a:ext>
            </a:extLst>
          </p:cNvPr>
          <p:cNvSpPr/>
          <p:nvPr/>
        </p:nvSpPr>
        <p:spPr>
          <a:xfrm>
            <a:off x="4507992" y="1565910"/>
            <a:ext cx="1965960" cy="241173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8D2D4E7-4037-A5C6-5673-5549810E879E}"/>
              </a:ext>
            </a:extLst>
          </p:cNvPr>
          <p:cNvSpPr/>
          <p:nvPr/>
        </p:nvSpPr>
        <p:spPr>
          <a:xfrm>
            <a:off x="4526280" y="1600200"/>
            <a:ext cx="196596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BDEB431-0616-5C50-C2CD-B749CCAFE6AF}"/>
              </a:ext>
            </a:extLst>
          </p:cNvPr>
          <p:cNvSpPr/>
          <p:nvPr/>
        </p:nvSpPr>
        <p:spPr>
          <a:xfrm>
            <a:off x="4617720" y="1709928"/>
            <a:ext cx="1783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</a:t>
            </a:r>
            <a:endParaRPr lang="en-US" sz="13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7961D174-1A1C-C9A9-9D3A-23DBD0AEBE61}"/>
              </a:ext>
            </a:extLst>
          </p:cNvPr>
          <p:cNvSpPr/>
          <p:nvPr/>
        </p:nvSpPr>
        <p:spPr>
          <a:xfrm>
            <a:off x="4636008" y="2423160"/>
            <a:ext cx="1746504" cy="1490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3.11+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Uvicorn</a:t>
            </a: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00" dirty="0"/>
          </a:p>
          <a:p>
            <a:pPr>
              <a:buSzPct val="100000"/>
            </a:pPr>
            <a:endParaRPr lang="en-US" sz="11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C94A7401-87A1-4519-E044-91EFDAA9C9B8}"/>
              </a:ext>
            </a:extLst>
          </p:cNvPr>
          <p:cNvSpPr/>
          <p:nvPr/>
        </p:nvSpPr>
        <p:spPr>
          <a:xfrm>
            <a:off x="6675120" y="1600200"/>
            <a:ext cx="2240280" cy="241173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C7395DD8-5C75-186C-683E-48B1727D26A7}"/>
              </a:ext>
            </a:extLst>
          </p:cNvPr>
          <p:cNvSpPr/>
          <p:nvPr/>
        </p:nvSpPr>
        <p:spPr>
          <a:xfrm>
            <a:off x="6675120" y="1600200"/>
            <a:ext cx="22402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C20BDF99-CF2A-3237-4E3C-3BC6BAE5A68D}"/>
              </a:ext>
            </a:extLst>
          </p:cNvPr>
          <p:cNvSpPr/>
          <p:nvPr/>
        </p:nvSpPr>
        <p:spPr>
          <a:xfrm>
            <a:off x="6766560" y="1709928"/>
            <a:ext cx="2057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580BBA22-A262-FC21-2E86-BA8FA8320C33}"/>
              </a:ext>
            </a:extLst>
          </p:cNvPr>
          <p:cNvSpPr/>
          <p:nvPr/>
        </p:nvSpPr>
        <p:spPr>
          <a:xfrm>
            <a:off x="6784848" y="2423160"/>
            <a:ext cx="2020824" cy="1490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/ NumPy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</a:t>
            </a:r>
            <a:endParaRPr lang="en-US" sz="11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E4DAEEF6-2968-197E-7FDB-B94B6A6DBD47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0A18"/>
          </a:solidFill>
          <a:ln w="12700">
            <a:solidFill>
              <a:srgbClr val="060A18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C33D2D7-901C-BE52-FE6A-236C76503FCF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8064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</a:t>
            </a:r>
            <a:r>
              <a:rPr lang="en-US" sz="2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</a:t>
            </a: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Workflow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129844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Browses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silently monitors traffic in background. No friction.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72768" y="3017520"/>
            <a:ext cx="1371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9928" y="1600200"/>
            <a:ext cx="1298448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09928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6E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55648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Captured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55648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request sent to /api/scan-url with raw URL payload.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08376" y="3017520"/>
            <a:ext cx="1371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5536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600200"/>
            <a:ext cx="129844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🧮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145536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91256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91256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URLFeatureExtractor generates 30+ numerical features in milliseconds.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43984" y="3017520"/>
            <a:ext cx="1371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1600200"/>
            <a:ext cx="12984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81144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26864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Inference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6864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scaler.pkl normalizes data → xgb_model.json predicts &amp; scores.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79592" y="3017520"/>
            <a:ext cx="1371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6752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16752" y="1600200"/>
            <a:ext cx="129844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016752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062472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62472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Phishing: Red warning page shown. </a:t>
            </a:r>
            <a:r>
              <a:rPr lang="en-US" sz="1000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Green:safe</a:t>
            </a: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page shown.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3017520"/>
            <a:ext cx="1371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1600200"/>
            <a:ext cx="1298448" cy="3246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52360" y="1600200"/>
            <a:ext cx="12984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1691640"/>
            <a:ext cx="12984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452360" y="2240280"/>
            <a:ext cx="12984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498080" y="260604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Logged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3108960"/>
            <a:ext cx="1207008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Result, timestamp, risk score appear on React dashboard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7C4CF-D0C4-3E94-2F64-A523E8773FC5}"/>
              </a:ext>
            </a:extLst>
          </p:cNvPr>
          <p:cNvSpPr txBox="1"/>
          <p:nvPr/>
        </p:nvSpPr>
        <p:spPr>
          <a:xfrm>
            <a:off x="224971" y="449943"/>
            <a:ext cx="8461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B) File Scan Workflow – End to End: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DE169-A4EA-7FC0-3891-C1457FF6DF43}"/>
              </a:ext>
            </a:extLst>
          </p:cNvPr>
          <p:cNvSpPr txBox="1"/>
          <p:nvPr/>
        </p:nvSpPr>
        <p:spPr>
          <a:xfrm>
            <a:off x="2286000" y="23879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8FB79E-9A2D-444A-0696-974AAC60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885"/>
            <a:ext cx="9144000" cy="414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6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0BF277-B23F-6D65-E594-DF059C295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72075"/>
              </p:ext>
            </p:extLst>
          </p:nvPr>
        </p:nvGraphicFramePr>
        <p:xfrm>
          <a:off x="1066799" y="1393371"/>
          <a:ext cx="6277429" cy="25907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0933">
                  <a:extLst>
                    <a:ext uri="{9D8B030D-6E8A-4147-A177-3AD203B41FA5}">
                      <a16:colId xmlns:a16="http://schemas.microsoft.com/office/drawing/2014/main" val="3571656191"/>
                    </a:ext>
                  </a:extLst>
                </a:gridCol>
                <a:gridCol w="1107782">
                  <a:extLst>
                    <a:ext uri="{9D8B030D-6E8A-4147-A177-3AD203B41FA5}">
                      <a16:colId xmlns:a16="http://schemas.microsoft.com/office/drawing/2014/main" val="4218604615"/>
                    </a:ext>
                  </a:extLst>
                </a:gridCol>
                <a:gridCol w="1107782">
                  <a:extLst>
                    <a:ext uri="{9D8B030D-6E8A-4147-A177-3AD203B41FA5}">
                      <a16:colId xmlns:a16="http://schemas.microsoft.com/office/drawing/2014/main" val="503455336"/>
                    </a:ext>
                  </a:extLst>
                </a:gridCol>
                <a:gridCol w="984694">
                  <a:extLst>
                    <a:ext uri="{9D8B030D-6E8A-4147-A177-3AD203B41FA5}">
                      <a16:colId xmlns:a16="http://schemas.microsoft.com/office/drawing/2014/main" val="3426726025"/>
                    </a:ext>
                  </a:extLst>
                </a:gridCol>
                <a:gridCol w="1046238">
                  <a:extLst>
                    <a:ext uri="{9D8B030D-6E8A-4147-A177-3AD203B41FA5}">
                      <a16:colId xmlns:a16="http://schemas.microsoft.com/office/drawing/2014/main" val="1170063413"/>
                    </a:ext>
                  </a:extLst>
                </a:gridCol>
              </a:tblGrid>
              <a:tr h="457938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Model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Accuracy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Precision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Recall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AUC-ROC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/>
                </a:tc>
                <a:extLst>
                  <a:ext uri="{0D108BD9-81ED-4DB2-BD59-A6C34878D82A}">
                    <a16:rowId xmlns:a16="http://schemas.microsoft.com/office/drawing/2014/main" val="1200481033"/>
                  </a:ext>
                </a:extLst>
              </a:tr>
              <a:tr h="42657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Logistic Regression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87.2%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86.5%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87.8%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0.877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606897342"/>
                  </a:ext>
                </a:extLst>
              </a:tr>
              <a:tr h="42657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Decision Tree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91.4%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90.9%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91.9%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0.934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658005449"/>
                  </a:ext>
                </a:extLst>
              </a:tr>
              <a:tr h="42657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Random Forest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95.8%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95.4%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96.1%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0.981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702928485"/>
                  </a:ext>
                </a:extLst>
              </a:tr>
              <a:tr h="42657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SVM (RBF kernel)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93.1%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92.7%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93.5%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0.968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075351541"/>
                  </a:ext>
                </a:extLst>
              </a:tr>
              <a:tr h="42657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>
                          <a:effectLst/>
                        </a:rPr>
                        <a:t>XGBoost (Proposed)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 dirty="0">
                          <a:effectLst/>
                        </a:rPr>
                        <a:t>96.5%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 dirty="0">
                          <a:effectLst/>
                        </a:rPr>
                        <a:t>95.4%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 dirty="0">
                          <a:effectLst/>
                        </a:rPr>
                        <a:t>96.7%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IN" sz="800" dirty="0">
                          <a:effectLst/>
                        </a:rPr>
                        <a:t>0.997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856681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A6B7AA-5BC0-1A05-4414-22A8691546A7}"/>
              </a:ext>
            </a:extLst>
          </p:cNvPr>
          <p:cNvSpPr txBox="1"/>
          <p:nvPr/>
        </p:nvSpPr>
        <p:spPr>
          <a:xfrm>
            <a:off x="566057" y="355600"/>
            <a:ext cx="705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</a:t>
            </a:r>
            <a:r>
              <a:rPr lang="en-US" sz="2400" b="1" dirty="0" err="1"/>
              <a:t>Comparision</a:t>
            </a:r>
            <a:r>
              <a:rPr lang="en-US" sz="2400" b="1" dirty="0"/>
              <a:t> Table:</a:t>
            </a:r>
          </a:p>
        </p:txBody>
      </p:sp>
    </p:spTree>
    <p:extLst>
      <p:ext uri="{BB962C8B-B14F-4D97-AF65-F5344CB8AC3E}">
        <p14:creationId xmlns:p14="http://schemas.microsoft.com/office/powerpoint/2010/main" val="398281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82880" y="137160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PhishShield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210312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Security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 Modern Web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438912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274320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0" y="960120"/>
            <a:ext cx="4754880" cy="685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100584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996696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90.5%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30759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model on 30+ engineered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764792"/>
            <a:ext cx="4754880" cy="685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810512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180136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Analysis (Extension)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112264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Sub-second URL scanning on every page 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2569464"/>
            <a:ext cx="4754880" cy="685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2615184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26060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File Protection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91693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hash checking with Alert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374136"/>
            <a:ext cx="4754880" cy="685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0520" y="3419856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09160" y="341071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Admin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721608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analytics with extension heartbeat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4178808"/>
            <a:ext cx="4754880" cy="6858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60520" y="4224528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09160" y="4215384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Zero-Day 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452628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ML-based, not reliant on signature databases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-305435" y="0"/>
            <a:ext cx="9450070" cy="514413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-126365" y="95885"/>
            <a:ext cx="3208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6DDE83-A0DC-2121-0E7F-F1A11DF09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435" y="556260"/>
            <a:ext cx="9450070" cy="4587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254635" y="11049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URL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CBB98-D936-9839-B141-D9214FD96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864"/>
            <a:ext cx="9144000" cy="4572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9062A-6581-C8CC-04D2-B8176C54E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9144000" cy="58293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en-US" sz="2400"/>
              <a:t>   File Scan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77C86-318D-C566-511B-21040BF4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F5825B-E0F8-E241-C0DD-B57A8572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44500" y="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Logs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84A7C-A431-8F71-6AFD-A99EB392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4"/>
            <a:ext cx="9144000" cy="4683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5250" y="73660"/>
            <a:ext cx="9048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Extension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45055-D97A-245F-8394-71FEF51BE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034"/>
            <a:ext cx="9144000" cy="46094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04750-9152-F74A-A86D-7A6A87AC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6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C15674-5A2D-3FAD-9DD0-96DD7D09C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-635"/>
            <a:ext cx="9144000" cy="70802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en-US" sz="2400"/>
              <a:t>Conclusion: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707390"/>
            <a:ext cx="9105900" cy="443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1400" dirty="0"/>
          </a:p>
          <a:p>
            <a:r>
              <a:rPr lang="en-US" altLang="en-US" sz="1400" dirty="0"/>
              <a:t>The AI-Powered Web &amp; File Security System detects phishing websites and malicious files in real time using Machine Learning. It provides a lightweight and efficient security solution without affecting system performance.</a:t>
            </a:r>
          </a:p>
          <a:p>
            <a:endParaRPr lang="en-US" altLang="en-US" sz="1400" dirty="0"/>
          </a:p>
          <a:p>
            <a:r>
              <a:rPr lang="en-US" altLang="en-US" sz="1400" b="1" dirty="0"/>
              <a:t>Key Points</a:t>
            </a:r>
          </a:p>
          <a:p>
            <a:endParaRPr lang="en-US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Detects both malicious URLs and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Uses Machine Learning for accurate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Provides real-time alerts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/>
              <a:t>Ensures low latency and efficient performance</a:t>
            </a:r>
          </a:p>
          <a:p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</p:txBody>
      </p:sp>
      <p:sp>
        <p:nvSpPr>
          <p:cNvPr id="5" name="Text Box 4"/>
          <p:cNvSpPr txBox="1"/>
          <p:nvPr/>
        </p:nvSpPr>
        <p:spPr>
          <a:xfrm>
            <a:off x="0" y="2213429"/>
            <a:ext cx="8908415" cy="25903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8B295-463F-94D0-A895-A63AB35A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52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8A73A-5FC4-F4B4-D4C5-903ADAF9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738" y="0"/>
            <a:ext cx="3974523" cy="5143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3777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9036C-05F1-4617-C47F-6255AF453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0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890" y="1311275"/>
            <a:ext cx="5062220" cy="2226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725</Words>
  <Application>Microsoft Office PowerPoint</Application>
  <PresentationFormat>On-screen Show (16:9)</PresentationFormat>
  <Paragraphs>199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 - AI-Powered Web and File Security</dc:title>
  <dc:subject>PptxGenJS Presentation</dc:subject>
  <dc:creator>PptxGenJS</dc:creator>
  <cp:lastModifiedBy>guruteja9866@gmail.com</cp:lastModifiedBy>
  <cp:revision>11</cp:revision>
  <dcterms:created xsi:type="dcterms:W3CDTF">2026-02-23T15:09:00Z</dcterms:created>
  <dcterms:modified xsi:type="dcterms:W3CDTF">2026-04-30T02:41:08Z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9F18D7C8A5F24AD2AD669B247CD010ED_13</vt:lpwstr>
  </property>
  <property fmtid="{D5CDD505-2E9C-101B-9397-08002B2CF9AE}" pid="3" name="KSOProductBuildVer">
    <vt:lpwstr>1033-12.2.0.23196</vt:lpwstr>
  </property>
</Properties>
</file>